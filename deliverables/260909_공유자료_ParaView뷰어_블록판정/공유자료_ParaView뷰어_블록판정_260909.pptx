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뷰어는 ParaView 6.1.1 기준. 모든 bat는 example_io/paraview/ 에서 더블클릭으로 실행.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bat는 ASCII만(한글 rem 금지). pvsm은 절대경로를 담고 있어 폴더를 옮기면 pvsm 안 경로를 바꿔야 함(또는 ParaView의 데이터 위치 지정 대화상자 이용).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handoffv2/README.md 파이프라인 실행 순서, scripts/analysis_260903/README.md, worklog 09-01~09-04.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그림: handoffv2/figures/fig_face_layout.png. 면 x: -0.20, 1.63, 4.07, 6.16, 8.50, 11.31, 12.63, 15.43, 16.91, 18.23, 20.93, 22.20.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example_io/dataset_config.json, p32_summary.csv, kr_summary_by_set.csv, demo_output/win_f01-06_l05/p32. 그림: handoffv2/figures.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worklog 09-01(복셀 해상도 스윕, edge-cut 도입), cut_blocks_polyhedral.py docstring, 260904.pptx 정리(메쉬 절단 비용).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그림: 2D 개념도(scratchpad hdec/fig_edgecut_concept.png). 코드: compute_edge_cuts(), run_cca_edgecut().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detect_blocks_from_domain_json.py filter_blocks_edgecut(), detect_face_blocks.py, scripts/analysis_260903/detect_interior_labels.py.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그림: fig_polyhedra_concept.png(2D 개념도). 수치: blocks_edgecut/poly_tunnel_summary.csv(168), poly_all_summary.csv(1,891/1,880), f06_minvol05/unexcavated_interior_summary.csv(174/171).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docs/블록판정_시드민감도_실험보고_260901.md, worklog 09-01~09-04 §10.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렌더: pvpython 오프스크린(흰 배경). GUI에서 열면 저장된 카메라 그대로.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worklog 09-01/09-02 현재상태 뷰·하이브리드 재구성 절, blocks_edgecut/poly_all_summary.csv.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worklog 09-01 막장면 쐐기 판정 절. 6면 시나리오는 6개/0.025 m³.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scripts/analysis_260903/aggregate_block_prob_insitu_l05.py, mc_worker_insitu_l05.sh, worklog 09-02/09-03.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worklog 09-03 슬라이딩 윈도우 절, 09-04 §7-5. 생성: make_pvsm_slide.py, slide_worker.sh, aggregate_slide.py.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worklog 09-04 §2~§5, §9.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worklog 09-04 §7-3~§7-5, §9. 그림: docs/figures/adaptive_sep_direction_bias.png.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scripts/analysis_260903/README.md, 주요함수_사용법.md.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9/10 연계협의 자료(현대건설 폴더)의 가능/불가/시간부족 표와 정합.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맑은 고딕"/>
              </a:rPr>
              <a:t>DFN 블록 판정 결과 공유</a:t>
            </a:r>
          </a:p>
          <a:p>
            <a:r>
              <a:rPr sz="1600" b="0" i="0">
                <a:solidFill>
                  <a:srgbClr val="C9D6E8"/>
                </a:solidFill>
                <a:latin typeface="맑은 고딕"/>
              </a:rPr>
              <a:t>ParaView 뷰어 소개  ·  결과를 만든 과정  ·  블록 판별 알고리즘(복셀 edge-cut + 다면체 재구성 + 몬테카를로 확률장)</a:t>
            </a:r>
          </a:p>
          <a:p>
            <a:pPr>
              <a:spcBef>
                <a:spcPts val="3000"/>
              </a:spcBef>
            </a:pPr>
            <a:r>
              <a:rPr sz="1400" b="0" i="0">
                <a:solidFill>
                  <a:srgbClr val="C9D6E8"/>
                </a:solidFill>
                <a:latin typeface="맑은 고딕"/>
              </a:rPr>
              <a:t>기준 데이터: handoffv2/example_io (DFM 실측 12면 데모, 1~6면·슬라이딩 윈도우 시나리오)</a:t>
            </a:r>
          </a:p>
          <a:p>
            <a:r>
              <a:rPr sz="1400" b="0" i="0">
                <a:solidFill>
                  <a:srgbClr val="C9D6E8"/>
                </a:solidFill>
                <a:latin typeface="맑은 고딕"/>
              </a:rPr>
              <a:t>2026-09-09  |  서울대 에너지자원공학과 이창무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1. 뷰어 목록 — example_io/paraview/ 의 상태 파일(pvsm)과 실행 bat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bat 더블클릭 → ParaView 6.1.1 이 상태 파일을 열어 아래 장면을 그대로 복원 (경로는 절대경로로 저장됨)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448056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실행 bat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상태 파일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보여주는 것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데이터 근거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열기_블록뷰.bat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dfn_blockview.pvsm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12면 데모(막장면 x=22.2): 기굴착 벽면 블록 84 + 막장면 쐐기 7 + 전방 내부 닫힌 블록 3,017개(72.7 m³)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dfn_domain_x22.204-32.204_halo5_hz7.48.json (seed 2026)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열기_블록뷰_6면.bat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dfn_blockview_f06.pvsm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1~6면 시나리오(막장면 x=11.37): 벽면 145 + 쐐기 6 + 내부 2,067개(51.9 m³), 최소 8복셀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f06/dfn_domain_f06_forward·excavated.json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열기_블록뷰_6면_고정부피.bat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dfn_blockview_f06_minvol05.pvsm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같은 장면에 </a:t>
                      </a:r>
                      <a:r>
                        <a:rPr sz="900" b="1" i="0">
                          <a:solidFill>
                            <a:srgbClr val="222222"/>
                          </a:solidFill>
                          <a:latin typeface="맑은 고딕"/>
                        </a:rPr>
                        <a:t>최소 부피 0.05 m³</a:t>
                      </a:r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 적용: 내부 171개(19.2 m³), 벽면 11개 — 미세조각 제거 비교용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blocks_edgecut/f06_minvol05/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열기_블록확률.bat / _6면 / _전체 / _제자리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dfn_block_probability*.pvsm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몬테카를로 50 실현 </a:t>
                      </a:r>
                      <a:r>
                        <a:rPr sz="900" b="1" i="0">
                          <a:solidFill>
                            <a:srgbClr val="222222"/>
                          </a:solidFill>
                          <a:latin typeface="맑은 고딕"/>
                        </a:rPr>
                        <a:t>블록 존재확률장</a:t>
                      </a:r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 4종: 12면 전방 / 6면 전방 / 전체 도메인 / 제자리(미굴착)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blocks_edgecut/*.vti (p_block, p_smooth)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(bat 없음)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dfn_block_probability_insitu_lmin05.pvsm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제자리 확률장 </a:t>
                      </a:r>
                      <a:r>
                        <a:rPr sz="900" b="1" i="0">
                          <a:solidFill>
                            <a:srgbClr val="222222"/>
                          </a:solidFill>
                          <a:latin typeface="맑은 고딕"/>
                        </a:rPr>
                        <a:t>검출하한 통일 재보정판(lmin 0.5)</a:t>
                      </a:r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 — 현행 대표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f06/block_prob_insitu_lmin05_mc50.vti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열기_슬라이딩윈도우.bat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dfn_sliding_windows.pvsm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1-4→5 / 2-5→6 / 3-6→7 예측 뷰(레이어 그룹 토글): 관측 원판·확률장·대상면 실측 절리선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f_slide/w14, w25, w36 (_ref 프레임)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열기_윈도우_1-6면.bat / 1-7면.bat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dfn_window_f01-06 / f01-07.pvsm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누적 윈도우 → 다음 면 예측 뷰 (같은 포맷)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f_slide/w16, w17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열기_다면매칭.bat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dfn_multiface_matching.pvsm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적응 max_sep 다면 매칭으로 복원된 원판(1~6면) — 단일면 vs 다면 원판 구분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f_slide/w16_multiface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(bat 없음)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dfn_current_state / face_blocks / face_mc / matrix_blocks / full / top30 / top30_3dec / windows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12면 현재상태 뷰, 막장면 쐐기(+MC), 닫힌 블록 전체 1,891개, 전체 DFN·상위 30·3DEC식 절단 62블록, 누적 윈도우 4종 전달본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example_io/paraview/{full,top30,f06,windows}, blocks3dec/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2. 결과를 만든 과정 — 실측 절리선에서 ParaView 장면까지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handoffv2 파이프라인(1~3단계) + 블록 판정·시각화 후처리(4~6단계). 좌표: x = 굴진방향, 막장면 = x·const, z 상방, 단위 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691640" cy="1783080"/>
          </a:xfrm>
          <a:prstGeom prst="roundRect">
            <a:avLst>
              <a:gd name="adj" fmla="val 7000"/>
            </a:avLst>
          </a:prstGeom>
          <a:solidFill>
            <a:srgbClr val="E3EC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ctr"/>
            <a:r>
              <a:rPr sz="1200" b="1" i="0">
                <a:solidFill>
                  <a:srgbClr val="1F3A5F"/>
                </a:solidFill>
                <a:latin typeface="맑은 고딕"/>
              </a:rPr>
              <a:t>① 입력 변환</a:t>
            </a:r>
          </a:p>
          <a:p>
            <a:pPr algn="ctr"/>
            <a:r>
              <a:rPr sz="850" b="0" i="0">
                <a:solidFill>
                  <a:srgbClr val="222222"/>
                </a:solidFill>
                <a:latin typeface="맑은 고딕"/>
              </a:rPr>
              <a:t>DFM Export 12면
점군 절리선 6,447개
→ 터널축 정렬, 전역 절리군
재분류(30° 군집), 관측면적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44951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95959"/>
                </a:solidFill>
                <a:latin typeface="맑은 고딕"/>
              </a:rPr>
              <a:t>convert_dfm_export_to_trace_dataset.py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67128" y="2125980"/>
            <a:ext cx="182880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68296" y="1234440"/>
            <a:ext cx="1691640" cy="1783080"/>
          </a:xfrm>
          <a:prstGeom prst="roundRect">
            <a:avLst>
              <a:gd name="adj" fmla="val 7000"/>
            </a:avLst>
          </a:prstGeom>
          <a:solidFill>
            <a:srgbClr val="E3EC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ctr"/>
            <a:r>
              <a:rPr sz="1200" b="1" i="0">
                <a:solidFill>
                  <a:srgbClr val="1F3A5F"/>
                </a:solidFill>
                <a:latin typeface="맑은 고딕"/>
              </a:rPr>
              <a:t>② 역산</a:t>
            </a:r>
          </a:p>
          <a:p>
            <a:pPr algn="ctr"/>
            <a:r>
              <a:rPr sz="850" b="0" i="0">
                <a:solidFill>
                  <a:srgbClr val="222222"/>
                </a:solidFill>
                <a:latin typeface="맑은 고딕"/>
              </a:rPr>
              <a:t>절리군별 평균방향·κ,
반지름 멱법칙 kr,
P32 (검출하한 lmin 0.5)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2576" y="3044951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95959"/>
                </a:solidFill>
                <a:latin typeface="맑은 고딕"/>
              </a:rPr>
              <a:t>estimate_kr / build_dataset_config /
estimate_p32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78223" y="2125980"/>
            <a:ext cx="182881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79392" y="1234440"/>
            <a:ext cx="1691640" cy="1783080"/>
          </a:xfrm>
          <a:prstGeom prst="roundRect">
            <a:avLst>
              <a:gd name="adj" fmla="val 7000"/>
            </a:avLst>
          </a:prstGeom>
          <a:solidFill>
            <a:srgbClr val="E3EC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ctr"/>
            <a:r>
              <a:rPr sz="1200" b="1" i="0">
                <a:solidFill>
                  <a:srgbClr val="1F3A5F"/>
                </a:solidFill>
                <a:latin typeface="맑은 고딕"/>
              </a:rPr>
              <a:t>③ 원판 복원</a:t>
            </a:r>
          </a:p>
          <a:p>
            <a:pPr algn="ctr"/>
            <a:r>
              <a:rPr sz="850" b="0" i="0">
                <a:solidFill>
                  <a:srgbClr val="222222"/>
                </a:solidFill>
                <a:latin typeface="맑은 고딕"/>
              </a:rPr>
              <a:t>절리선 → 원판 (다면 매칭:
적응 max_sep, 평면 잔차 8 cm,
면당 chord 1개)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3044951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95959"/>
                </a:solidFill>
                <a:latin typeface="맑은 고딕"/>
              </a:rPr>
              <a:t>reconstruct_discs_from_traces.py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19" y="2125980"/>
            <a:ext cx="182881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90488" y="1234440"/>
            <a:ext cx="1691640" cy="1783080"/>
          </a:xfrm>
          <a:prstGeom prst="roundRect">
            <a:avLst>
              <a:gd name="adj" fmla="val 7000"/>
            </a:avLst>
          </a:prstGeom>
          <a:solidFill>
            <a:srgbClr val="D6E9D6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ctr"/>
            <a:r>
              <a:rPr sz="1200" b="1" i="0">
                <a:solidFill>
                  <a:srgbClr val="1F3A5F"/>
                </a:solidFill>
                <a:latin typeface="맑은 고딕"/>
              </a:rPr>
              <a:t>④ 조건부 실현</a:t>
            </a:r>
          </a:p>
          <a:p>
            <a:pPr algn="ctr"/>
            <a:r>
              <a:rPr sz="850" b="0" i="0">
                <a:solidFill>
                  <a:srgbClr val="222222"/>
                </a:solidFill>
                <a:latin typeface="맑은 고딕"/>
              </a:rPr>
              <a:t>관측 원판 고정 + 확률 균열
생성 → 부재 조건화 →
도메인 절단 JSON (시드별)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3044951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95959"/>
                </a:solidFill>
                <a:latin typeface="맑은 고딕"/>
              </a:rPr>
              <a:t>export_domain_dfn_json.py
(generate_conditional_hidden_dfn)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0415" y="2125980"/>
            <a:ext cx="182881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01583" y="1234440"/>
            <a:ext cx="1691640" cy="1783080"/>
          </a:xfrm>
          <a:prstGeom prst="roundRect">
            <a:avLst>
              <a:gd name="adj" fmla="val 7000"/>
            </a:avLst>
          </a:prstGeom>
          <a:solidFill>
            <a:srgbClr val="FAE5D3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ctr"/>
            <a:r>
              <a:rPr sz="1200" b="1" i="0">
                <a:solidFill>
                  <a:srgbClr val="1F3A5F"/>
                </a:solidFill>
                <a:latin typeface="맑은 고딕"/>
              </a:rPr>
              <a:t>⑤ 블록 판정</a:t>
            </a:r>
          </a:p>
          <a:p>
            <a:pPr algn="ctr"/>
            <a:r>
              <a:rPr sz="850" b="0" i="0">
                <a:solidFill>
                  <a:srgbClr val="222222"/>
                </a:solidFill>
                <a:latin typeface="맑은 고딕"/>
              </a:rPr>
              <a:t>복셀 0.1 m edge-cut CCA →
닫힌/벽접촉/쐐기 블록 →
다면체 재구성, MC 확률장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3" y="3044951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95959"/>
                </a:solidFill>
                <a:latin typeface="맑은 고딕"/>
              </a:rPr>
              <a:t>detect_blocks_from_domain_json /
reconstruct_block_polyhedra /
detect_face_blocks / aggregate_*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11511" y="2125980"/>
            <a:ext cx="182881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80" y="1234440"/>
            <a:ext cx="1691640" cy="1783080"/>
          </a:xfrm>
          <a:prstGeom prst="roundRect">
            <a:avLst>
              <a:gd name="adj" fmla="val 7000"/>
            </a:avLst>
          </a:prstGeom>
          <a:solidFill>
            <a:srgbClr val="EEEEEE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ctr"/>
            <a:r>
              <a:rPr sz="1200" b="1" i="0">
                <a:solidFill>
                  <a:srgbClr val="1F3A5F"/>
                </a:solidFill>
                <a:latin typeface="맑은 고딕"/>
              </a:rPr>
              <a:t>⑥ 시각화</a:t>
            </a:r>
          </a:p>
          <a:p>
            <a:pPr algn="ctr"/>
            <a:r>
              <a:rPr sz="850" b="0" i="0">
                <a:solidFill>
                  <a:srgbClr val="222222"/>
                </a:solidFill>
                <a:latin typeface="맑은 고딕"/>
              </a:rPr>
              <a:t>vtp/vti 내보내기 + 장면 기하
(tunnel_behind, face_cap,
domain_box) → pvpython으로
pvsm 생성 → bat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9" y="3044951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95959"/>
                </a:solidFill>
                <a:latin typeface="맑은 고딕"/>
              </a:rPr>
              <a:t>export_domain_dfn_vtk /
make_scene_geometry /
make_pvsm_*.py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9476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맑은 고딕"/>
              </a:rPr>
              <a:t>각 단계의 산출물과 시간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•  ①~③: 현장(윈도우)당 1회, 15초~1분. 산출: trace_dataset_3d.h5, kr_summary_by_set.csv, p32_summary.csv, reconstructed_discs.csv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•  ④: 실현(시드)당 4~12초. 산출: dfn_domain_*.json — 균열 목록(center_xyz_m, normal_xyz, radius_m, set_id, label observed/unobserved) + meta(좌표계·도메인·절리군 파라미터·시드)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•  ⑤: 실현당 8초(GPU, 균열 2.5만·복셀 500만). 산출: *_labels.npz(복셀 라벨), *_summary.csv, *_polyhedra.vtp, block_prob_*.vti(MC 집계)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•  ⑥: 장면 기하 vtp 3종 + 블록별 고정색(rgb 셀 배열, bake_block_rgb.py) + pvpython 스크립트로 레이어·색·카메라·범례를 코드로 고정해 pvsm 저장 → 누구나 같은 장면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•  ⑤~⑥의 스크립트는 handoffv2/dfn_analysis/(배포용)와 handoffv2/scripts/analysis_260903/(분석·MC·pvsm 생성기 아카이브, README 있음)에 있음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3. 입력 데이터와 시나리오 — 12면 실측 데모, 1~6면, 슬라이딩 윈도우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막장면 x 위치와 절리선 수(위), 관측면적(아래). 면 07(x=12.63)은 데이터 품질 이상 면(RGB 없음·정확도 낮음, 송재준 교수님 측 확인)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4</a:t>
            </a:r>
          </a:p>
        </p:txBody>
      </p:sp>
      <p:pic>
        <p:nvPicPr>
          <p:cNvPr id="5" name="Picture 4" descr="fig_face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760720" cy="347521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097280"/>
          <a:ext cx="5303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737360"/>
                <a:gridCol w="1097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시나리오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관측 면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막장면 x / 전방 도메인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12면 데모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01~12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22.20 / x 22.2~32.2 (halo 5, z +7.48)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블록뷰·현재상태·매트릭스·top30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1~6면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01~06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11.37 / x 11.4~21.4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블록뷰 6면, 확률장 4종, 블라인드 검증(면 07~12)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1~7면 (w17)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01~07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12.63 / 면 08 예측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윈도우 뷰, 면07 결손 영향 진단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슬라이딩 w14/w25/w36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1-4 / 2-5 / 3-6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면 5 / 6 / 7 예측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실무형 4면 윈도우 검증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누적 4종 (한양대 전달)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1-7 / 2-7 / 3-7 / 4-7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면 07 전방 동일 구간 × 시드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막장 수에 따른 예측 품질 비교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3657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도메인 정의 (export_domain_dfn_json)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도메인 = 마지막 막장면 전방 10 m × (터널 단면 bbox + halo 5 m, z는 +7.48 m) 직육면체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포함 규칙: 원판의 경계구(중심, 반지름)가 도메인과 만나면 포함 — 밖에 중심이 있어도 도메인을 자르면 들어감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확률 균열: 절리군별 kr·P32로 rmin 0.5~rmax 25 m 생성 후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부재 조건화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 — 관측 막장면에 0.5 m 이상 절리선을 남겼을 균열은 제거(그 자리는 관측 원판이 설명)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예: 12면 도메인 균열 24,802개(관측 복원 포함), 6면 도메인 12,535개(관측 434)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4. 역산 → 원판 복원 → 조건부 실현 (블록 판정의 입력이 만들어지는 곳)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관측된 것은 그대로(결정론), 관측되지 않은 곳만 통계로(확률) — 두 부류를 label로 구분해 JSON에 담음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5</a:t>
            </a:r>
          </a:p>
        </p:txBody>
      </p:sp>
      <p:pic>
        <p:nvPicPr>
          <p:cNvPr id="5" name="Picture 4" descr="crop_reconstruction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807664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06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12면 복원 원판 4,601개(회색 shrinkage·초록 원적합) vs 관측 절리선(파랑)</a:t>
            </a:r>
          </a:p>
        </p:txBody>
      </p:sp>
      <p:pic>
        <p:nvPicPr>
          <p:cNvPr id="7" name="Picture 6" descr="crop_observed_vs_conditioned_t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1560"/>
            <a:ext cx="3201668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340156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관측 절리선(파랑) vs 조건부 DFN이 만드는 절리선(빨강) — 관측면에서 정합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464040" y="1051560"/>
          <a:ext cx="2286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6400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절리군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κ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kr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P32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13.1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3.95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2.01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15.0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3.95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1.50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11.0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3.85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1.45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12.5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3.85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1.19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46404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12면 데모 추정치 (P32: r≥0.5 m, m²/m³)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94760"/>
            <a:ext cx="7132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복원(③)에서 내가 정한 것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절리선 매칭 = 같은 절리군·법선 축각 ≤15°·공면거리 ≤0.15 m·중심거리 게이트 → 병합마다 평면 잔차(RMS ≤ 8 cm)와 '면당 chord 1개' 재검사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중심거리 게이트는 고정 4.5 m 대신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적응형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(Δx/sinθ × 1.4, 인접면만): 막장면과 평행한 원판이 덜 매칭되는 방향 편향을 줄임 (슬라이드 16)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반지름: 절리선 2개 이상이면 원적합(determined), 아니면 kr 분포 기반 축소추정(shrinkage)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조건부 실현(④)에서 내가 정한 것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6면 재보정(lmin 0.5): kr 4.0/3.8/3.65, P32 1.39/0.96/0.74 — 검출하한을 관측·모델에 똑같이 적용해야 면 08 블라인드 예측이 밴드 안에 들어옴(+56% 과대 해소)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부재 조건화의 파이썬 이중루프(4분 20초)를 면별 벡터화로 4초로 — 같은 시드에서 출력 동일 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5. 블록 판별 알고리즘 ① — 세 가지 방식을 비교하고 edge-cut을 택한 이유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출발점은 레거시 GPU 복셀 판정기(_archive/block_detection). 그 위에 edge-cut 절단 · 다면체 재구성 · 막장면 쐐기 · MC 확률장을 내가 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108960"/>
                <a:gridCol w="3383280"/>
                <a:gridCol w="338328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</a:rPr>
                        <a:t>A. 종전: 균열 복셀 (레거시)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</a:rPr>
                        <a:t>B. edge-cut CCA (채택)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</a:rPr>
                        <a:t>C. 3DEC식 완전 절단 (비교용 프로토타입)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균열 표현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원판 근방 복셀을 FRACTURE로 분류(두께 = 0.6×복셀), 암반에서 제거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두께 0의 분리면 — 원판을 가로지르는 </a:t>
                      </a:r>
                      <a:r>
                        <a:rPr sz="950" b="1" i="0">
                          <a:solidFill>
                            <a:srgbClr val="222222"/>
                          </a:solidFill>
                          <a:latin typeface="맑은 고딕"/>
                        </a:rPr>
                        <a:t>이웃 복셀 연결선만 절단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무한 평면으로 블록 다면체를 완전 분할(원판이 닿은 블록만)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블록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남은 ROCK 복셀의 연결성분 (26/6-이웃)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절단되지 않은 6-이웃 그래프의 연결성분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반공간 교집합 볼록 다면체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장점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구현 단순, GPU 빠름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암반 부피 손실 없음, 두께 설정 불필요, 원판 끝(crack tip)이 자연스럽게 열려 있음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기하 정확, 해상도 무관, 부피 보존 0.000%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문제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두께 &lt; 복셀이면 균열면에 구멍 → 블록 못 닫음(0.1 격자+6 cm 두께에서 블록 3개). 복셀 0.2에서 percolation 이상치(59 m³)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닫힘 판정 스케일 ε = 복셀 크기에 의존 (0.1 m로 고정·명시). 계단형 표면 → 다면체 재구성으로 해결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부분 관통 균열을 </a:t>
                      </a:r>
                      <a:r>
                        <a:rPr sz="950" b="1" i="0">
                          <a:solidFill>
                            <a:srgbClr val="222222"/>
                          </a:solidFill>
                          <a:latin typeface="맑은 고딕"/>
                        </a:rPr>
                        <a:t>과절단</a:t>
                      </a:r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(작은 원판이 셀 모서리만 스쳐도 셀 전체 절단). 비용 초선형: 균열 500개 219 s, 700개 timeout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결과 예 (12면 top-30)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닫힌 블록 </a:t>
                      </a:r>
                      <a:r>
                        <a:rPr sz="950" b="1" i="0">
                          <a:solidFill>
                            <a:srgbClr val="222222"/>
                          </a:solidFill>
                          <a:latin typeface="맑은 고딕"/>
                        </a:rPr>
                        <a:t>0개</a:t>
                      </a:r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 (소형 균열이 없으면 블록이 안 닫힘)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블록 </a:t>
                      </a:r>
                      <a:r>
                        <a:rPr sz="950" b="1" i="0">
                          <a:solidFill>
                            <a:srgbClr val="222222"/>
                          </a:solidFill>
                          <a:latin typeface="맑은 고딕"/>
                        </a:rPr>
                        <a:t>62개</a:t>
                      </a:r>
                      <a:r>
                        <a:rPr sz="950" b="0" i="0">
                          <a:solidFill>
                            <a:srgbClr val="222222"/>
                          </a:solidFill>
                          <a:latin typeface="맑은 고딕"/>
                        </a:rPr>
                        <a:t>, 벽 걸침 20 — 정반대 결과 = 부분 균열 취급 차이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578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•  판단: 이 데이터는 </a:t>
            </a:r>
            <a:r>
              <a:rPr sz="1050" b="1" i="0">
                <a:solidFill>
                  <a:srgbClr val="222222"/>
                </a:solidFill>
                <a:latin typeface="맑은 고딕"/>
              </a:rPr>
              <a:t>수천~수만 개의 소형 유한 원판</a:t>
            </a:r>
            <a:r>
              <a:rPr sz="1050" b="0" i="0">
                <a:solidFill>
                  <a:srgbClr val="222222"/>
                </a:solidFill>
                <a:latin typeface="맑은 고딕"/>
              </a:rPr>
              <a:t>(반지름 중앙값 0.6 m)이라 '전체 균열 다면체 절단'은 실용 불가. 복셀 edge-cut은 기하 하한(보수적), 3DEC식은 상한 — 역할 분담으로 두 방식을 모두 유지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•  edge-cut의 ε 의존은 없앨 수 없는 성질이므로 '복셀 0.1 m 기준 블록'으로 명시하고 </a:t>
            </a:r>
            <a:r>
              <a:rPr sz="1050" b="1" i="0">
                <a:solidFill>
                  <a:srgbClr val="222222"/>
                </a:solidFill>
                <a:latin typeface="맑은 고딕"/>
              </a:rPr>
              <a:t>절대 블록 수가 아니라 상대 비교·확률</a:t>
            </a:r>
            <a:r>
              <a:rPr sz="1050" b="0" i="0">
                <a:solidFill>
                  <a:srgbClr val="222222"/>
                </a:solidFill>
                <a:latin typeface="맑은 고딕"/>
              </a:rPr>
              <a:t>로 쓰는 것을 원칙으로 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6. 블록 판별 알고리즘 ② — edge-cut 원리와 구현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compute_edge_cuts → run_cca_edgecut (dfn_analysis/detect_blocks_from_domain_json.py)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7</a:t>
            </a:r>
          </a:p>
        </p:txBody>
      </p:sp>
      <p:pic>
        <p:nvPicPr>
          <p:cNvPr id="5" name="Picture 4" descr="fig_edgecut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589520" cy="25687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5156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절단 판정 (원판마다, AABB 안 복셀만)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복셀 중심 p₁, p₂의 평면 부호거리 d₁ = (p₁−c)·n, d₂ = (p₂−c)·n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부호가 다르면 연결선이 평면을 가로지름. 교차점 q = p₁ + t(p₂−p₁), t = d₁/(d₁−d₂)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|q − c|² ≤ r²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 일 때만 절단 (교차점이 평면 위이므로 3D 거리 = 면내 거리) — 유한 원판 처리의 핵심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축별(x, y, z) 절단 배열 cutx/cuty/cutz(bool)에 OR 누적 → 원판 2.5만 개, 복셀 500만 개에서 8초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연결성분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살아있는 6-이웃 연결선으로 희소 그래프(scipy coo_matrix) → connected_components → 복셀 라벨 3D 배열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왜 6-이웃인가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26-이웃이면 모서리·꼭짓점 접촉으로 분리면을 '건너뛰어' 블록이 합쳐질 수 있음 → 보수적 6-이웃 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(a) 종전 방식은 균열 복셀을 암반에서 빼므로 부피가 줄고, 두께가 복셀보다 얇으면 균열면에 구멍이 남. (b) edge-cut은 복셀을 빼지 않고 연결선만 끊음. (c) 원판 밖(crack tip 너머)은 연결이 유지되므로 유한 균열 하나로는 블록이 닫히지 않고,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여러 균열이 협력해야 닫힘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 — 실제 블록 형성 논리와 일치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7. 블록 판별 알고리즘 ③ — 연결성분에서 '블록'을 고르는 규칙 3종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같은 edge-cut 라벨에서 문제 설정(굴착 전/후, 자유면)에 따라 다른 규칙을 적용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2926080"/>
                <a:gridCol w="2651760"/>
                <a:gridCol w="164592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암반(rock)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채택 조건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의미 / 용도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스크립트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① 굴착 가정 · 터널 접촉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도메인 − 터널 프리즘(단면 폴리곤을 x 전 구간으로 연장)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터널 복셀과 6-이웃 접촉 ∧ 도메인 6면 외곽 비접촉 ∧ 복셀 수 ≥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전방을 다 팠을 때 벽에 드러날 블록(overbreak 후보). 레거시와 동일 기준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detect_blocks_from_domain_json --method edgecut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② 제자리(in-situ) 닫힌 블록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도메인 전체 (터널 없음)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도메인 6면 어디에도 닿지 않는 컴포넌트 ∧ 복셀 수 ≥ min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굴착 전 암반 안에 '블록인 채' 존재하는 것 — 전방 예측·확률장의 기본 정의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detect_interior_labels.py / make_unexcavated_blocks.py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③ 막장면 쐐기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도메인 전체 (미굴착)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자유면 패치(막장면 × 터널 단면 내부)에 접촉 ∧ 막장면의 단면 밖 부분에는 비접촉 ∧ 다른 외곽 비접촉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지금 막장면에 드러난 쐐기. 관측 균열만으로도 판정 가능(ε 0.05 권장)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detect_face_blocks --labels observed|all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(보조) 기굴착 벽면 블록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굴착 구간(x 뒤쪽) JSON에 ①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①과 동일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이미 판 터널 벽에 있는 블록(실측 지배) — 현재상태 뷰의 색 블록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export --x-range 로 굴착 구간 JSON 생성 후 ①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고정 파라미터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복셀 0.1 m (=닫힘 판정 스케일 ε), 6-이웃, 최소 크기: 8복셀(0.008 m³) 기본 /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고정 부피 0.05 m³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(=50복셀) 비교 뷰. 균열 두께 파라미터 없음(edge-cut). 외곽 접촉 컴포넌트는 항상 제외(도메인 바깥으로 이어진 암반)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출력: 라벨 npz(origin, voxel_size, labels), summary.csv(label, n_voxels, volume_m3, centroid, contact_area_m2, rank) — MC는 라벨만 저장하고 다면체는 대표 실현에서만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8. 블록 판별 알고리즘 ④ — 계단형 복셀 블록을 정확한 다면체로 되돌리기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reconstruct_block_polyhedra.py: edge-cut이 찾은 '진짜 닫힌 블록'의 경계 평면을 역추적해 볼록 다면체 복원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9</a:t>
            </a:r>
          </a:p>
        </p:txBody>
      </p:sp>
      <p:pic>
        <p:nvPicPr>
          <p:cNvPr id="5" name="Picture 4" descr="fig_polyhedra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7498079" cy="2649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5156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경계 원판 판별 (블록 복셀 중심 집합 P, 후보 원판 j)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부호거리 dᵢⱼ = (pᵢ − cⱼ)·nⱼ 에서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95 % 이상이 한쪽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(min(양,음 비율) ≤ 0.05) — 블록을 관통하는 슬릿은 제외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min|dᵢⱼ| ≤ 1.2h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 (경계에 실제로 접함, h = 복셀)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근접 복셀의 면내 거리² ≤ (rⱼ + h)² (접촉부가 원판 반경 안)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클리핑 순서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복셀 bbox(+0.75h) 볼록체 → ① 경계 원판 반공간 → ② 인접 터널 벽 변 평면(암반 쪽 유지) → ③ 도메인 6면. 각 단계는 hull 모서리-평면 교점으로 ConvexHull 재구성(clip_hull)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검증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R_V = V_poly / V_voxel.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R_V &gt; 2 → flag 'open'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(경계면 누락 의심, 표시만 하고 제외 안 함)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12면 터널접촉 168/168 성공, 부피비 중앙값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0.90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; 닫힌 블록 전체 1,891 중 1,880 ok; 6면 고정부피 171/174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한계: 볼록 재구성이라 블록 안으로 파고들다 끝나는 슬릿과 비볼록 형상은 외곽 형상으로 근사. 터널 벽은 폴리곤 변 평면으로 국소 근사. 큰 쐐기(한양대 top-20 케이스)는 연장 평면 과절단으로 부피 과소 → 그 경우 복셀 부피(vol_voxel)를 기준값으로 보고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9. 블록 판별 알고리즘 ⑤ — 검증 실험과 한계 (내가 확인한 것)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블록 통계는 파라미터에 민감하다 — 어떤 값이 물리적이고 어떤 값이 이산화 아티팩트인지 실험으로 분리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69494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194560"/>
              </a:tblGrid>
              <a:tr h="640079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실험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</a:rPr>
                        <a:t>함의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복셀 해상도 스윕 0.3 → 0.05 m (12면)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블록 수 29 → 254, 총부피 22.9 → 3.7 m³ 단조 감소. 종전 두께 방식은 0.2에서 percolation 이상치 59 m³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복셀 = 닫힘 판정 스케일 ε. 절대값 보고 금지, 0.1 m 고정 상대 비교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최소 크기: 8복셀 → 고정 0.05 m³ (6면)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내부 2,067개/51.9 m³ → 171개/19.2 m³, 벽면 145 → 11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미세조각 제거. 단 0.2 m 격자에 같은 하한을 주면 1,004개 → 분할 자체의 ε 의존은 잔존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상위 30개 대형 균열만 (12면)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edge-cut 블록 </a:t>
                      </a:r>
                      <a:r>
                        <a:rPr sz="900" b="1" i="0">
                          <a:solidFill>
                            <a:srgbClr val="222222"/>
                          </a:solidFill>
                          <a:latin typeface="맑은 고딕"/>
                        </a:rPr>
                        <a:t>0개</a:t>
                      </a:r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 vs 3DEC식 완전 절단 62개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블록을 닫는 것은 소형 균열의 교차. top-N 선별은 블록 관점에서 위험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rmax 25 → 10 m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DFN 통계 동일(19,617→19,594)이나 블록 총부피 −49 %, 최대 블록 −81 %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크기 절단은 블록 결과를 바꾸는 물리 파라미터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시드 12개 반복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블록 수 CV 11 %, 총부피 CV 21 %, 최대 블록 CV 48 %, 개별 블록 위치 일치 8~9 %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재현되는 것은 통계량뿐 → 확률장으로 보고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0085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관측 균열만 vs 전체 DFN (막장면 쐐기)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동일 7개(0.055 m³) — 부재 조건화가 막장면 근방 확률 균열을 지운 결과(구성상 동어반복 일부)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맑은 고딕"/>
                        </a:rPr>
                        <a:t>검출한계 이하 잔여 불확실성은 MC로 정량화(추가 쐐기 0~5개)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fn_top30_3dec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51560"/>
            <a:ext cx="41148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dfn_top30_3dec.pvsm — 상위 30개 무한평면 완전 절단(3DEC식) 62블록. 같은 입력의 복셀 edge-cut은 0개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93192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결론으로 삼은 원칙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복셀 0.1 m·6-이웃·edge-cut 고정, 최소 크기는 용도별 명시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블록 개수·부피는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실현 분포와 확률장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으로 보고, 대표 실현은 다면체로 시각화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역학해석 입력은 '블록 + 경계평면 목록'(다면체 재구성 부산물)으로 넘길 수 있게 유지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10. 뷰어 — 블록뷰(1~6면, 고정 부피 0.05 m³)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열기_블록뷰_6면_고정부피.bat  |  굴착 구간과 생성 도메인을 겹치지 않게 배치한 '현재 상태'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11</a:t>
            </a:r>
          </a:p>
        </p:txBody>
      </p:sp>
      <p:pic>
        <p:nvPicPr>
          <p:cNvPr id="5" name="Picture 4" descr="dfn_blockview_f06_minvol05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7315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051560"/>
            <a:ext cx="3749039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장면 구성 (x 기준)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x &lt; 11.37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기굴착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: 반투명 회색 터널(tunnel_behind) + 벽면 접촉 블록(블록별 고정색 rgb) — 굴착 구간 JSON(--x-range)에 규칙 ① 적용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x = 11.37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막장면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: 베이지 face_cap + 관측 균열 기반 쐐기(빨강, 규칙 ③)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x &gt; 11.37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미굴착 전방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: 청회색 내부 닫힌 블록(규칙 ②) + 검정 도메인 박스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수치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내부 닫힌 블록 171개 / 19.2 m³ (최대 2.10, &gt;0.1 m³ 54개, &gt;0.5 m³ 4개), 벽면 11개 / 0.6 m³, 쐐기 6개 / 0.025 m³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같은 장면 min 8복셀 판(열기_블록뷰_6면.bat): 내부 2,067개 / 51.9 m³, 벽면 145 — 나란히 열어 비교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만든 방법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make_scene_geometry.py(터널·캡·박스 vtp) → bake_block_rgb.py(tab20 고정색) → make_pvsm_blockview_f06_minvol05.py(pvpython: 레이어·색·불투명도·카메라 코드로 고정)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11. 뷰어 — 12면 현재상태 뷰와 닫힌 블록 전체(매트릭스) 뷰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dfn_current_state.pvsm (열기_블록뷰.bat 계열)  |  dfn_matrix_blocks.pvsm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12</a:t>
            </a:r>
          </a:p>
        </p:txBody>
      </p:sp>
      <p:pic>
        <p:nvPicPr>
          <p:cNvPr id="5" name="Picture 4" descr="dfn_current_state_nodi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577840" cy="31375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현재상태 뷰: 기굴착 터널(막장면 뒤 8 m, 벽면 블록 84개 색) + 막장면 쐐기 7 + 전방 미굴착 내부 블록(2,144개)</a:t>
            </a:r>
          </a:p>
        </p:txBody>
      </p:sp>
      <p:pic>
        <p:nvPicPr>
          <p:cNvPr id="7" name="Picture 6" descr="dfn_matrix_blocks_nod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51560"/>
            <a:ext cx="5577840" cy="31375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매트릭스 뷰: 도메인 전체 균열 원판(반투명) + 완전히 둘러싸인 블록 1,891개 다면체(터널접촉 168 + 내부 1,723)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사용자 지적으로 고친 표현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: 처음엔 전방 도메인(막장면 +10 m)에 미래 터널을 미리 뚫어 보여줬음 → 미굴착 꽉 찬 암반 + 막장면 벽 + 기굴착 터널(뒤 8 m)로 재구성. 도메인 x 범위(22.204~32.204)는 처음부터 정확했고 문제는 표현이었음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닫힌 블록 1,891개 합 48.5 m³ ≈ 도메인 암반의 1.5 % — 완전 절단 관례(3DEC)와 달리 유한 원판 액면으로는 '소수 닫힌 블록 + 연결된 모암 1개'가 정상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매트릭스 뷰는 blocks_polyhedra 층이 기본 표시, 복셀층(vti threshold)은 기본 숨김 — Pipeline Browser 눈 아이콘으로 전환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12. 뷰어 — 막장면 쐐기 판정과 검출한계 이하 불확실성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dfn_face_blocks.pvsm (관측 균열만)  |  dfn_face_mc.pvsm (12 실현 MC)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13</a:t>
            </a:r>
          </a:p>
        </p:txBody>
      </p:sp>
      <p:pic>
        <p:nvPicPr>
          <p:cNvPr id="5" name="Picture 4" descr="dfn_face_blocks_blocks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577840" cy="31375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막장면(x=22.2) 자유면 패치에 접한 쐐기 7개(0.055 m³, 최대 0.02) — 전부 관측 절리선에서 복원한 원판이 만든 것</a:t>
            </a:r>
          </a:p>
        </p:txBody>
      </p:sp>
      <p:pic>
        <p:nvPicPr>
          <p:cNvPr id="7" name="Picture 6" descr="dfn_face_mc_cl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51560"/>
            <a:ext cx="5577840" cy="31375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MC 12 실현: 확률 균열 추가로 생기는 쐐기 0~5개(평균 1.2), 부피 +14 % 평균, 최대 37 L(seed 808)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규칙 ③(슬라이드 7)로 판정. 관측 균열만 넣은 결과와 전체 DFN 결과가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동일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 — 부재 조건화가 막장면 관측창에 0.5 m 이상 절리선을 남길 확률 균열을 지우므로 구성상 당연한 부분이 있음(순환성, 사용자 지적으로 확정)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그래서 '검출한계 이상 = 실측으로 결정(조건화 보장), 이하 = 통계 불확실성 잔존'으로 서술하고, 이하 부분을 MC로 따로 정량화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ε = 0.05 m 사용(관측 원판이 소형이라 0.1에서는 닫힘이 거칠어짐). 다면체 재구성 7/7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13. 블록 존재확률 컨투어 — 몬테카를로 50 실현을 복셀 단위로 겹치기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열기_블록확률_*.bat 4종 + 재보정판. P(블록) = 그 복셀이 닫힌 블록에 속한 실현 수 / 50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14</a:t>
            </a:r>
          </a:p>
        </p:txBody>
      </p:sp>
      <p:pic>
        <p:nvPicPr>
          <p:cNvPr id="5" name="Picture 4" descr="dfn_block_probability_insitu_lmin05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577840" cy="31375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제자리 확률장(6면, lmin 0.5 재보정): 막장면 직후 천장부에 P≥0.5 등치면(빨강). 그 너머는 소멸</a:t>
            </a:r>
          </a:p>
        </p:txBody>
      </p:sp>
      <p:pic>
        <p:nvPicPr>
          <p:cNvPr id="7" name="Picture 6" descr="dfn_block_probability_full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51560"/>
            <a:ext cx="5577840" cy="31375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전체 도메인 굴착가정 확률장: 기굴착 구간(관측 벽면 블록) + 전방(막장면 원판 기반 천장 블록)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</a:t>
            </a:r>
            <a:r>
              <a:rPr sz="950" b="1" i="0">
                <a:solidFill>
                  <a:srgbClr val="222222"/>
                </a:solidFill>
                <a:latin typeface="맑은 고딕"/>
              </a:rPr>
              <a:t>절차</a:t>
            </a:r>
            <a:r>
              <a:rPr sz="950" b="0" i="0">
                <a:solidFill>
                  <a:srgbClr val="222222"/>
                </a:solidFill>
                <a:latin typeface="맑은 고딕"/>
              </a:rPr>
              <a:t>: 시드 k×101 (k=1..50) → export_domain_dfn_json(실현 4~12초) → 라벨만 저장(detect_interior_labels / edge-cut, 8초) → 8병렬(xargs -P 8) 완주 2~4분 → aggregate_*.py: 복셀별 소속 횟수/50 = p_block, 가우시안 σ=3 평활 p_smooth → vti + 2D 투영 png + pvsm(등치면 0.02/0.1/0.3/0.5, 흰→노랑→빨강 커스텀 LUT)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</a:t>
            </a:r>
            <a:r>
              <a:rPr sz="950" b="1" i="0">
                <a:solidFill>
                  <a:srgbClr val="222222"/>
                </a:solidFill>
                <a:latin typeface="맑은 고딕"/>
              </a:rPr>
              <a:t>수치(제자리, 6면, 재보정)</a:t>
            </a:r>
            <a:r>
              <a:rPr sz="950" b="0" i="0">
                <a:solidFill>
                  <a:srgbClr val="222222"/>
                </a:solidFill>
                <a:latin typeface="맑은 고딕"/>
              </a:rPr>
              <a:t>: 실현별 265~402개·6.1~11.3 m³, ≥1회 5.0 %, P≥0.5 1.79 m³, P=1.0 396복셀 — 관측 원판 기반 천장 클러스터는 준결정론적, 배경은 얇은 구름. 관측 정보 도달거리 ≈ 1.5 m (블라인드 검증: 막장면 1.5 m 너머 위치 예측력 없음, 절리선 통계는 밴드 안)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범례 서식 주의: ParaView 6.1은 '{:.2f}' 브레이스 스타일만 유효. 다면 매칭 개선(9/4) 후 재생성본은 P≥0.5 ≈1.05 m³로 재분포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14. 뷰어 — 슬라이딩 윈도우 (1-4→5, 2-5→6, 3-6→7)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열기_슬라이딩윈도우.bat  |  한 상태 파일에 3세트를 레이어 그룹(w14_/w25_/w36_)으로 담고 눈 아이콘으로 전환 (기본 w14)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15</a:t>
            </a:r>
          </a:p>
        </p:txBody>
      </p:sp>
      <p:pic>
        <p:nvPicPr>
          <p:cNvPr id="5" name="Picture 4" descr="dfn_sliding_windows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949440" cy="3909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051560"/>
            <a:ext cx="4114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3A5F"/>
                </a:solidFill>
                <a:latin typeface="맑은 고딕"/>
              </a:rPr>
              <a:t>레이어 (각 세트 동일)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faceplanes(실측면 4 + 대상면 1), tunnel_behind(실측면 구간), tunnel_to_target(유령), face_cap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observed_discs_single(단일면 원판) / multi(다면 원판, 강조색), domain_box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block_prob_mc50(제자리 확률장 등치면), </a:t>
            </a:r>
            <a:r>
              <a:rPr sz="950" b="1" i="0">
                <a:solidFill>
                  <a:srgbClr val="222222"/>
                </a:solidFill>
                <a:latin typeface="맑은 고딕"/>
              </a:rPr>
              <a:t>target_face_traces(파란 선 = 대상면 실측 절리선)</a:t>
            </a:r>
            <a:r>
              <a:rPr sz="950" b="0" i="0">
                <a:solidFill>
                  <a:srgbClr val="222222"/>
                </a:solidFill>
                <a:latin typeface="맑은 고딕"/>
              </a:rPr>
              <a:t> — 예측과 실측을 같은 화면에서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3A5F"/>
                </a:solidFill>
                <a:latin typeface="맑은 고딕"/>
              </a:rPr>
              <a:t>프레임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세 창의 국소 좌표가 조금씩 달라(면 중심 궤적 재적합) 공통 참조 프레임(_ref)으로 회전·정렬. 파일 규약: 국소 / _world / _ref 3종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3A5F"/>
                </a:solidFill>
                <a:latin typeface="맑은 고딕"/>
              </a:rPr>
              <a:t>검증 수치 (적응 매칭 재생성본)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다면 원판 w14 197 / w25 219 / w36 169. 대상면 절리선 예측 vs 실측: 122±12 vs 169, 129±11 vs 168, 105±9 vs 73(면07 결손)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4면 윈도우는 P21 −18~−27 % 하향(대상면 5·6이 고강도 면 + 4면 추정 분산). 6면→면08의 −9 %보다 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15. 뷰어 — 누적 윈도우 1~6면 / 1~7면 → 다음 면 예측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열기_윈도우_1-6면.bat / 1-7면.bat  |  같은 포맷. 1~7면은 면 07 결손이 결과에 어떻게 번지는지 보여주는 사례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16</a:t>
            </a:r>
          </a:p>
        </p:txBody>
      </p:sp>
      <p:pic>
        <p:nvPicPr>
          <p:cNvPr id="5" name="Picture 4" descr="dfn_window_f01-06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577840" cy="31375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w16: 관측 원판 434, 확률장 max P 1.0 — 막장면 직후 천장 클러스터 반복 출현</a:t>
            </a:r>
          </a:p>
        </p:txBody>
      </p:sp>
      <p:pic>
        <p:nvPicPr>
          <p:cNvPr id="7" name="Picture 6" descr="dfn_window_f01-07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51560"/>
            <a:ext cx="5577840" cy="31375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맑은 고딕"/>
              </a:rPr>
              <a:t>w17: 면 07(절리선 79개) 포함. 관측 원판 108개뿐 → 앵커 부재로 확률장이 흐림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</a:t>
            </a:r>
            <a:r>
              <a:rPr sz="950" b="1" i="0">
                <a:solidFill>
                  <a:srgbClr val="222222"/>
                </a:solidFill>
                <a:latin typeface="맑은 고딕"/>
              </a:rPr>
              <a:t>w17 부실 원인 분리</a:t>
            </a:r>
            <a:r>
              <a:rPr sz="950" b="0" i="0">
                <a:solidFill>
                  <a:srgbClr val="222222"/>
                </a:solidFill>
                <a:latin typeface="맑은 고딕"/>
              </a:rPr>
              <a:t>: ① 면 07 검출 결손(0.5 m 미만 절리선 6개, 타면 400~700) → 관측 원판 108(w16 434) → max P 0.30~0.44, 데이터 문제라 재보정으로 안 고쳐짐. ② 면 08 +51 % 과대예측은 별개 원인 = 구버전 P32 보정(observed_P21을 전체 길이로 계산) → lmin 0.5 재보정으로 P32 합 5.97→3.56, 면 08 122±10 vs 139(96백분위)로 복귀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적응 매칭 재생성 후: w16 → 면 07 예측 122±10 vs 실측 73(실측 결손), w17 → 면 08 125±11 vs 139(90백분위, 밴드 안), max P 0.92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한양대 쐐기 전달본(260903)이 구버전 win_f01-07 기반(강도 약 1.7배 과생성)이라 재전달 여부 판단 필요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16. 뷰어 — 다면 매칭(적응 max_sep)으로 복원된 원판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열기_다면매칭.bat  |  막장면과 평행한 절리일수록 두 면 사이 현이 멀리 떨어져 나타난다는 사용자 통찰을 게이트에 반영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17</a:t>
            </a:r>
          </a:p>
        </p:txBody>
      </p:sp>
      <p:pic>
        <p:nvPicPr>
          <p:cNvPr id="5" name="Picture 4" descr="dfn_multiface_matching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852160" cy="3291840"/>
          </a:xfrm>
          <a:prstGeom prst="rect">
            <a:avLst/>
          </a:prstGeom>
        </p:spPr>
      </p:pic>
      <p:pic>
        <p:nvPicPr>
          <p:cNvPr id="6" name="Picture 5" descr="adaptive_sep_direction_b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51560"/>
            <a:ext cx="5212080" cy="20790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4348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이론: 두 현 중심거리 = Δx / sinθ = Δx / √(1−nx²) (θ = 원판 법선과 x축 각). nx→1(막장면 평행)에서 발산 → 고정 4.5 m 게이트는 막장면 평행 원판을 과소 매칭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구현: 게이트 = clamp(1.4 · Δface_x / sinθ, same_face, 8.0), 단 Δface_x &gt; 3.2 m(비인접)면 후보에서 제외. 병합 확정은 여전히 평면 잔차 8 cm + 면당 chord 1개 검증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1~6면 결과: 다면 원판 280 → </a:t>
            </a:r>
            <a:r>
              <a:rPr sz="950" b="1" i="0">
                <a:solidFill>
                  <a:srgbClr val="222222"/>
                </a:solidFill>
                <a:latin typeface="맑은 고딕"/>
              </a:rPr>
              <a:t>308</a:t>
            </a:r>
            <a:r>
              <a:rPr sz="950" b="0" i="0">
                <a:solidFill>
                  <a:srgbClr val="222222"/>
                </a:solidFill>
                <a:latin typeface="맑은 고딕"/>
              </a:rPr>
              <a:t>, 비인접 과병합 </a:t>
            </a:r>
            <a:r>
              <a:rPr sz="950" b="1" i="0">
                <a:solidFill>
                  <a:srgbClr val="222222"/>
                </a:solidFill>
                <a:latin typeface="맑은 고딕"/>
              </a:rPr>
              <a:t>0</a:t>
            </a:r>
            <a:r>
              <a:rPr sz="950" b="0" i="0">
                <a:solidFill>
                  <a:srgbClr val="222222"/>
                </a:solidFill>
                <a:latin typeface="맑은 고딕"/>
              </a:rPr>
              <a:t> 유지, 면 5-6 매칭 41 → 60, 막장면 평행(|nx|≥0.8) 36 → 58. 막장면 평행 비율: 모집단 26.9 % / 고정 12.9 % / 적응 </a:t>
            </a:r>
            <a:r>
              <a:rPr sz="950" b="1" i="0">
                <a:solidFill>
                  <a:srgbClr val="222222"/>
                </a:solidFill>
                <a:latin typeface="맑은 고딕"/>
              </a:rPr>
              <a:t>18.8 %</a:t>
            </a:r>
            <a:r>
              <a:rPr sz="950" b="0" i="0">
                <a:solidFill>
                  <a:srgbClr val="222222"/>
                </a:solidFill>
                <a:latin typeface="맑은 고딕"/>
              </a:rPr>
              <a:t> (모집단에 근접)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이후 모든 윈도우 파이프라인 기본값으로 승격(run_window_pipeline.py --adaptive-sep). 확률장은 앵커 원판이 늘며 재분포(P≥0.5 부피 1.37→1.05 m³) — 개선 단정이 아니라 트레이드오프로 기록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17. 뷰어 사용법 · 파일 규약 · 재현 방법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다른 PC에서 열려면 ParaView 6.1.1 설치 후 pvsm 안의 절대경로만 바꾸면 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사용법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bat 더블클릭 (또는 ParaView → File → Load State → pvsm). 데이터 위치를 묻는 대화상자가 뜨면 'Search files under specified directory'로 example_io 지정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Pipeline Browser의 </a:t>
            </a:r>
            <a:r>
              <a:rPr sz="1000" b="1" i="0">
                <a:solidFill>
                  <a:srgbClr val="222222"/>
                </a:solidFill>
                <a:latin typeface="맑은 고딕"/>
              </a:rPr>
              <a:t>눈 아이콘</a:t>
            </a:r>
            <a:r>
              <a:rPr sz="1000" b="0" i="0">
                <a:solidFill>
                  <a:srgbClr val="222222"/>
                </a:solidFill>
                <a:latin typeface="맑은 고딕"/>
              </a:rPr>
              <a:t>으로 레이어 토글 — 슬라이딩 윈도우는 w14_/w25_/w36_ 접두사 그룹 단위로 전환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확률장: Contour 필터의 Isosurfaces 값(0.02/0.1/0.3/0.5)을 바꾸면 등치면 재생성. 색 범위는 0~0.5 고정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블록 다면체: Coloring = rgb(고정색) 또는 block_id / tunnel_contact / flag_open 셀 배열로 전환 가능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1F3A5F"/>
                </a:solidFill>
                <a:latin typeface="맑은 고딕"/>
              </a:rPr>
              <a:t>파일 규약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국소 = 파이프라인 프레임(x 굴진). _world = 라이다 world 좌표(JSON meta의 R·t로 역변환). _ref = 여러 창을 겹치기 위한 공통 참조 프레임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vtp = 표면/선(원판·블록·터널·절리선), vti = 정규 격자 스칼라(확률장·라벨), vts = 회전된 격자(확률장 _ref/_world)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맑은 고딕"/>
              </a:rPr>
              <a:t>•  bat는 ASCII만(한글 rem 금지: cp949 파싱 깨짐)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51560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3A5F"/>
                </a:solidFill>
                <a:latin typeface="맑은 고딕"/>
              </a:rPr>
              <a:t>재현 명령 (handoffv2 루트, PYTHONPATH=.)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</a:rPr>
              <a:t>python scripts/analysis_260903/run_window_pipeline.py f01-06 01 02 03 04 05 06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</a:rPr>
              <a:t>python -m dfn_analysis.export_domain_dfn_json --pipeline-dir demo_output/win_f01-06_l05 --sets 1 2 3 --rmax-local 25 --lmin-det 0.5 --seed 2026 --halo 5 --halo-z 7.48 --out example_io/f06/dfn_domain_f06_forward.json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</a:rPr>
              <a:t>python -m dfn_analysis.detect_blocks_from_domain_json --json &lt;json&gt; --voxel 0.1 --connectivity 6 --method edgecut --min-voxels 50 --out-prefix &lt;out&gt;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</a:rPr>
              <a:t>python -m dfn_analysis.reconstruct_block_polyhedra --json &lt;json&gt; --voxel 0.1 --include-interior --out-prefix &lt;out&gt;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</a:rPr>
              <a:t>python -m dfn_analysis.detect_face_blocks --json &lt;json&gt; --voxel 0.05 --labels observed --out-prefix &lt;out&gt;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</a:rPr>
              <a:t>bash mc_worker_insitu_l05.sh k  (k=1..50, xargs -P 8) → python aggregate_block_prob_insitu_l05.py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</a:rPr>
              <a:t>python make_scene_geometry.py &lt;json&gt; &lt;x_back0&gt; &lt;out_dir&gt;; python bake_block_rgb.py in.vtp out.vtp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</a:rPr>
              <a:t>pvpython make_pvsm_blockview_f06_minvol05.py &lt;handoffv2&gt; &lt;out.pvsm&gt;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3A5F"/>
                </a:solidFill>
                <a:latin typeface="맑은 고딕"/>
              </a:rPr>
              <a:t>주의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analysis_260903 스크립트는 상단 SP/H2 경로 상수가 하드코딩 — 재사용 시 그 둘만 수정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22222"/>
                </a:solidFill>
                <a:latin typeface="맑은 고딕"/>
              </a:rPr>
              <a:t>•  detect_blocks_from_domain_json은 리포의 _archive/block_detection/code(tunnel_geometry, block_detector)에 의존 — 배포 시 동봉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맑은 고딕"/>
              </a:rPr>
              <a:t>18. 한계와 다음 단계</a:t>
            </a:r>
          </a:p>
          <a:p>
            <a:r>
              <a:rPr sz="1200" b="0" i="0">
                <a:solidFill>
                  <a:srgbClr val="595959"/>
                </a:solidFill>
                <a:latin typeface="맑은 고딕"/>
              </a:rPr>
              <a:t>결과를 읽을 때 같이 봐야 할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맑은 고딕"/>
              </a:rPr>
              <a:t>DFN 블록 판정 공유자료 (handoffv2/example_io)   |   2026-09-09   |  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/>
            <a:r>
              <a:rPr sz="1150" b="1" i="0">
                <a:solidFill>
                  <a:srgbClr val="1F3A5F"/>
                </a:solidFill>
                <a:latin typeface="맑은 고딕"/>
              </a:rPr>
              <a:t>한계 (알고리즘)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22222"/>
                </a:solidFill>
                <a:latin typeface="맑은 고딕"/>
              </a:rPr>
              <a:t>ε 의존</a:t>
            </a:r>
            <a:r>
              <a:rPr sz="1050" b="0" i="0">
                <a:solidFill>
                  <a:srgbClr val="222222"/>
                </a:solidFill>
                <a:latin typeface="맑은 고딕"/>
              </a:rPr>
              <a:t>: 복셀 0.1 m가 곧 닫힘 판정 스케일. 절대 블록 수·부피는 보고하지 않고 상대 비교·확률로만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22222"/>
                </a:solidFill>
                <a:latin typeface="맑은 고딕"/>
              </a:rPr>
              <a:t>볼록 재구성</a:t>
            </a:r>
            <a:r>
              <a:rPr sz="1050" b="0" i="0">
                <a:solidFill>
                  <a:srgbClr val="222222"/>
                </a:solidFill>
                <a:latin typeface="맑은 고딕"/>
              </a:rPr>
              <a:t>: 슬릿·비볼록 블록은 외곽 형상 근사. 큰 쐐기는 연장 평면 과절단 → vol_voxel 병기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22222"/>
                </a:solidFill>
                <a:latin typeface="맑은 고딕"/>
              </a:rPr>
              <a:t>기하 판정만</a:t>
            </a:r>
            <a:r>
              <a:rPr sz="1050" b="0" i="0">
                <a:solidFill>
                  <a:srgbClr val="222222"/>
                </a:solidFill>
                <a:latin typeface="맑은 고딕"/>
              </a:rPr>
              <a:t>: 노출(daylighting)은 굴착 가정 정의에서 '터널 접촉'으로 부분 대응, 운동학·역학(마찰·점착·안전율)은 미포함(한양대 단계)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22222"/>
                </a:solidFill>
                <a:latin typeface="맑은 고딕"/>
              </a:rPr>
              <a:t>위치 예측력 한계</a:t>
            </a:r>
            <a:r>
              <a:rPr sz="1050" b="0" i="0">
                <a:solidFill>
                  <a:srgbClr val="222222"/>
                </a:solidFill>
                <a:latin typeface="맑은 고딕"/>
              </a:rPr>
              <a:t>: 막장면 1.5 m 너머는 통계로만 — 순수 블라인드에서 복셀 단위 lift 1.2배, P≥0.5 영역과 실측 블록 겹침 0 %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22222"/>
                </a:solidFill>
                <a:latin typeface="맑은 고딕"/>
              </a:rPr>
              <a:t>입력 품질 의존</a:t>
            </a:r>
            <a:r>
              <a:rPr sz="1050" b="0" i="0">
                <a:solidFill>
                  <a:srgbClr val="222222"/>
                </a:solidFill>
                <a:latin typeface="맑은 고딕"/>
              </a:rPr>
              <a:t>: 면 07 결손처럼 추출 단계 문제는 재보정으로 못 고침. 검출하한(lmin)은 입력 면 품질에 따라 0.3~0.5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E8F3E8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/>
            <a:r>
              <a:rPr sz="1150" b="1" i="0">
                <a:solidFill>
                  <a:srgbClr val="1F3A5F"/>
                </a:solidFill>
                <a:latin typeface="맑은 고딕"/>
              </a:rPr>
              <a:t>다음 단계 (제안)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굴착가정 확률장(6면/전체)도 lmin 0.5 재보정·적응 매칭 기준으로 재생성해 버전 통일 (제자리는 완료)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한양대 입력용 '블록 + 경계평면 목록' 내보내기 정식화 (wedge_bounding_planes.csv 형식을 일반화)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복셀 ε 수렴 검토 또는 대형 균열만 메쉬 절단과 결합한 하이브리드 (역할 분담 확정)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lmin 자동 선택(면별 rolloff + LOFO-CV) 구현 — 현재는 수동 0.3/0.5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재보정본 기반 쐐기 케이스 재전달 여부 결정, 실측 overbreak 지점 대조(CloudCompare bin 수령 후)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22222"/>
                </a:solidFill>
                <a:latin typeface="맑은 고딕"/>
              </a:rPr>
              <a:t>world 좌표 정본 + 모듈별 변환으로 좌표 규약 통일 (9/10 회의 의제)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